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01E3E-6D8E-E61A-6EB4-10D949D6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E3F609-2AD2-279F-3D7B-EFB871C2D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87FC5-3406-E9A6-2FD9-98DB70CC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62493-CCA7-2409-9370-362AB518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87F289-EF4A-3E3E-148A-0DF73297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6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FCE06-A218-AB09-6F8D-D70D5E74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41321A-8A45-2F07-CB75-11D194B2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EB77C-B515-C91B-4906-0EB9B232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A22944-0F85-F5AA-A5AE-B34E4C54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752DD1-0AA3-BE90-3E29-7F27ECDE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37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9801-A171-3EE6-F868-B2CA1518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438163-645A-D5B7-07F2-1B891225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04849F-95AC-EE2B-3D21-27424F48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734DD-70E9-9504-1A18-CE919216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5EA73-B101-FD2C-C870-420FA45C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5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8FCDA-3C7A-B311-D5C3-D253821A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80A32-1BC1-6F63-446A-96A5C33E0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D24705-EC59-2FB0-9282-CEEF27437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3CA6CC-C359-7B63-D757-F314BBA1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9D9035-EA89-C63C-72EB-9E76AD82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528B53-AAA5-A4D5-2F8F-CB5B4B7D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1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D441D-3BEE-B2CC-C104-63C21047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64F457-3CDF-685B-4713-A8F93DD3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2F6E76-B9AC-F8B7-0015-154B5E8D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18553D-97AD-88F8-A610-BCA913980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9CB1DE-6631-91DB-C589-C6A0488AD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C04316-7B46-4001-4B80-42441638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C32FAD-DB65-7306-B3E5-8B1D7315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F5D5DD-D01B-A9DB-BA52-1285E623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40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58C9C-9F2A-2847-F4DC-38185EFB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E43F34-41EF-ED03-F3A9-E44A0BF3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3E1EC1-3EE8-F449-996E-47ECEDEA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E66FE6-248C-4908-2215-AE658A97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93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BEA32C-8855-0F89-7CEA-FEACA430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AAC52A-4225-2EB8-CDD7-8037CE23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0A87ED-C61E-038A-759D-6B2EBDC52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64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A4FE4-E9D8-ECD1-F406-523ECCE58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2514A-C4A6-A47F-90E1-875001C3A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2EAAAF-05E8-15EA-011E-EA57E3F67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B93D52-F955-6D52-B327-E224857C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541062-CBEE-528F-EA8E-8C22CC65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2C5205-E09F-459F-E310-D728BA8A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24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5DDE9-BA1E-AB44-F13A-3393FC43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EC9595-3EEB-3FBD-2316-C9957ACEB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F8E182-0211-9CB4-290B-F19BC1C1C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B81F67-52AA-F0F4-FD7A-2DB669F4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C20525-05D9-C621-8ED3-AB0A2D81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6DADCE-BCD1-AF85-B814-922276EB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43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A5485-82A8-BB51-E0B9-DFFA1AE5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EC3C03-1E5E-7E53-0430-C60025F5D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D534D5-C72C-1003-1102-30936245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FCBA3-9CAE-5210-890E-117A35DB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740E3-EEDF-0E76-843F-BC025B85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4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CA4B5E-6FE5-EAC0-23A0-20C4A4056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15ECA4-4E73-0384-AB12-B1E3B0640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749B59-D6EE-2D7D-5C09-F2378DF10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83E137-378E-4344-7885-8168C0A7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1098E-E709-1DA7-2B92-74C82B42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25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FA3122-3D33-B995-25E0-52A2B535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784CAA-33B0-6581-E106-576C395C2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27D74-5D10-BBBC-B50E-339E5931F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B6BDA-D4B8-413B-9525-D19C74E622E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F36864-85E0-0F04-DA4F-A04DB5B16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DD92E-A80D-331B-8FE4-925501921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FED5E-C369-4E87-9D51-EDA40522B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4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7BF6CFF-2B87-A694-4AFB-19B69B173348}"/>
              </a:ext>
            </a:extLst>
          </p:cNvPr>
          <p:cNvSpPr txBox="1"/>
          <p:nvPr/>
        </p:nvSpPr>
        <p:spPr>
          <a:xfrm>
            <a:off x="810323" y="1524000"/>
            <a:ext cx="47132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Whale Hunting: </a:t>
            </a:r>
          </a:p>
          <a:p>
            <a:r>
              <a:rPr lang="en-US" altLang="zh-CN" sz="4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Taking a Stand with Practical Respect</a:t>
            </a:r>
            <a:endParaRPr lang="zh-CN" altLang="en-US" sz="4000" dirty="0">
              <a:latin typeface="Cambria Math" panose="02040503050406030204" pitchFamily="18" charset="0"/>
            </a:endParaRPr>
          </a:p>
        </p:txBody>
      </p:sp>
      <p:pic>
        <p:nvPicPr>
          <p:cNvPr id="1026" name="Picture 2" descr="Umi Wall Art for Sale - Fine Art America">
            <a:extLst>
              <a:ext uri="{FF2B5EF4-FFF2-40B4-BE49-F238E27FC236}">
                <a16:creationId xmlns:a16="http://schemas.microsoft.com/office/drawing/2014/main" id="{168C3F9A-8B26-B8B4-0747-D7712EC98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885" y="1524000"/>
            <a:ext cx="5715000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2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0999E34-8A33-302E-0DD0-90745921725A}"/>
              </a:ext>
            </a:extLst>
          </p:cNvPr>
          <p:cNvSpPr txBox="1"/>
          <p:nvPr/>
        </p:nvSpPr>
        <p:spPr>
          <a:xfrm>
            <a:off x="1443147" y="900747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zh-CN" sz="32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 Math" panose="02040503050406030204" pitchFamily="18" charset="0"/>
              </a:rPr>
              <a:t>A Delicate Conflict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22D577-BDB3-87E0-0FA7-E6D7030E0520}"/>
              </a:ext>
            </a:extLst>
          </p:cNvPr>
          <p:cNvSpPr txBox="1"/>
          <p:nvPr/>
        </p:nvSpPr>
        <p:spPr>
          <a:xfrm>
            <a:off x="1443148" y="2228671"/>
            <a:ext cx="39245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Whether we should choose to protect the whales for our environment, or respect the traditional culture?</a:t>
            </a:r>
            <a:endParaRPr lang="zh-CN" altLang="zh-CN" sz="2400" kern="100" dirty="0">
              <a:effectLst/>
              <a:latin typeface="Cambria Math" panose="020405030504060302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050" name="Picture 2" descr="海鮮レストラン なぎさ［鯨のお話し］">
            <a:extLst>
              <a:ext uri="{FF2B5EF4-FFF2-40B4-BE49-F238E27FC236}">
                <a16:creationId xmlns:a16="http://schemas.microsoft.com/office/drawing/2014/main" id="{A34AC40F-EEA0-737D-8696-E8D05A6D3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422" y="900747"/>
            <a:ext cx="5208246" cy="3415513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08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A7F0450-8FEC-928A-3465-66E0AD18F6E9}"/>
              </a:ext>
            </a:extLst>
          </p:cNvPr>
          <p:cNvSpPr txBox="1"/>
          <p:nvPr/>
        </p:nvSpPr>
        <p:spPr>
          <a:xfrm>
            <a:off x="1443147" y="900747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en-US" altLang="zh-CN" sz="32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 Math" panose="02040503050406030204" pitchFamily="18" charset="0"/>
              </a:rPr>
              <a:t>The Priority of Survival</a:t>
            </a:r>
            <a:endParaRPr lang="zh-CN" altLang="zh-CN" sz="3200" b="1" i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mbria Math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F3E0B1-2F7F-0FE4-9F56-851A7051A8A2}"/>
              </a:ext>
            </a:extLst>
          </p:cNvPr>
          <p:cNvSpPr txBox="1"/>
          <p:nvPr/>
        </p:nvSpPr>
        <p:spPr>
          <a:xfrm>
            <a:off x="1443147" y="2096048"/>
            <a:ext cx="433641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kern="100" dirty="0">
                <a:solidFill>
                  <a:srgbClr val="FFCC00"/>
                </a:solidFill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Conservation Must Come First</a:t>
            </a:r>
          </a:p>
          <a:p>
            <a:pPr algn="just">
              <a:buNone/>
            </a:pPr>
            <a:endParaRPr lang="en-US" altLang="zh-CN" sz="1000" kern="1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2400" kern="1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Culture and heritage are deeply important. But what is a tradition worth if the animal it relies on disappears forever?</a:t>
            </a:r>
            <a:endParaRPr lang="zh-CN" altLang="zh-CN" sz="2400" kern="100" dirty="0">
              <a:effectLst/>
              <a:latin typeface="Cambria Math" panose="020405030504060302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074" name="Picture 2" descr="A humpback whale breaching the surface of a deep blue ocean. - Australian Stock Image">
            <a:extLst>
              <a:ext uri="{FF2B5EF4-FFF2-40B4-BE49-F238E27FC236}">
                <a16:creationId xmlns:a16="http://schemas.microsoft.com/office/drawing/2014/main" id="{40ED1F96-5502-7F3F-B84C-CA666FE67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4" r="17781"/>
          <a:stretch>
            <a:fillRect/>
          </a:stretch>
        </p:blipFill>
        <p:spPr bwMode="auto">
          <a:xfrm>
            <a:off x="7189557" y="900746"/>
            <a:ext cx="3776263" cy="4201795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57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5D9A676-2FEA-AB5F-986F-2B5BF8690EB9}"/>
              </a:ext>
            </a:extLst>
          </p:cNvPr>
          <p:cNvSpPr txBox="1"/>
          <p:nvPr/>
        </p:nvSpPr>
        <p:spPr>
          <a:xfrm>
            <a:off x="1443147" y="900747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en-US" altLang="zh-CN" sz="32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 Math" panose="02040503050406030204" pitchFamily="18" charset="0"/>
              </a:rPr>
              <a:t>A Living Value Over Whaling</a:t>
            </a:r>
            <a:endParaRPr lang="zh-CN" altLang="zh-CN" sz="3200" b="1" i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mbria Math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DC196D-1B29-D585-3661-39E352A0A2F8}"/>
              </a:ext>
            </a:extLst>
          </p:cNvPr>
          <p:cNvSpPr txBox="1"/>
          <p:nvPr/>
        </p:nvSpPr>
        <p:spPr>
          <a:xfrm>
            <a:off x="1443149" y="2068127"/>
            <a:ext cx="4852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What does a practical solution look like? We can replace the hunting with whale watching.</a:t>
            </a:r>
            <a:endParaRPr lang="zh-CN" altLang="zh-CN" sz="2400" kern="100" dirty="0">
              <a:effectLst/>
              <a:latin typeface="Cambria Math" panose="020405030504060302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E54B89-3612-224A-EFB0-CF3C57AA6C30}"/>
              </a:ext>
            </a:extLst>
          </p:cNvPr>
          <p:cNvSpPr txBox="1"/>
          <p:nvPr/>
        </p:nvSpPr>
        <p:spPr>
          <a:xfrm>
            <a:off x="1443147" y="3268456"/>
            <a:ext cx="4950673" cy="14157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zh-CN" cap="all" dirty="0">
                <a:latin typeface="Cambria Math" panose="02040503050406030204" pitchFamily="18" charset="0"/>
                <a:cs typeface="Microsoft Sans Serif" panose="020B0604020202020204" pitchFamily="34" charset="0"/>
              </a:rPr>
              <a:t>Global Tourism Economy</a:t>
            </a:r>
          </a:p>
          <a:p>
            <a:r>
              <a:rPr lang="zh-CN" altLang="zh-CN" sz="4400" b="1" dirty="0">
                <a:latin typeface="Cambria Math" panose="02040503050406030204" pitchFamily="18" charset="0"/>
                <a:cs typeface="Microsoft Sans Serif" panose="020B0604020202020204" pitchFamily="34" charset="0"/>
              </a:rPr>
              <a:t>$2.1 Billion</a:t>
            </a:r>
            <a:endParaRPr lang="en-US" altLang="zh-CN" sz="4400" b="1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algn="just"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tourism, jobs</a:t>
            </a:r>
            <a:endParaRPr lang="zh-CN" altLang="zh-CN" sz="2400" kern="100" dirty="0">
              <a:effectLst/>
              <a:latin typeface="Cambria Math" panose="02040503050406030204" pitchFamily="18" charset="0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579D87-FF2D-4FF9-C744-5579AF8ED8ED}"/>
              </a:ext>
            </a:extLst>
          </p:cNvPr>
          <p:cNvSpPr txBox="1"/>
          <p:nvPr/>
        </p:nvSpPr>
        <p:spPr>
          <a:xfrm>
            <a:off x="1443147" y="4841173"/>
            <a:ext cx="4950672" cy="14157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cap="all" dirty="0">
                <a:latin typeface="Cambria Math" panose="02040503050406030204" pitchFamily="18" charset="0"/>
                <a:cs typeface="Microsoft Sans Serif" panose="020B0604020202020204" pitchFamily="34" charset="0"/>
              </a:rPr>
              <a:t>THE ALTERNATIVE PATH</a:t>
            </a:r>
            <a:endParaRPr lang="zh-CN" altLang="zh-CN" cap="all" dirty="0">
              <a:latin typeface="Cambria Math" panose="02040503050406030204" pitchFamily="18" charset="0"/>
              <a:cs typeface="Microsoft Sans Serif" panose="020B0604020202020204" pitchFamily="34" charset="0"/>
            </a:endParaRPr>
          </a:p>
          <a:p>
            <a:r>
              <a:rPr lang="en-US" altLang="zh-CN" sz="4400" b="1" dirty="0">
                <a:latin typeface="Cambria Math" panose="02040503050406030204" pitchFamily="18" charset="0"/>
                <a:cs typeface="Microsoft Sans Serif" panose="020B0604020202020204" pitchFamily="34" charset="0"/>
              </a:rPr>
              <a:t>Local Culture</a:t>
            </a:r>
            <a:endParaRPr lang="en-US" altLang="zh-CN" sz="4400" b="1" dirty="0">
              <a:latin typeface="Cambria Math" panose="02040503050406030204" pitchFamily="18" charset="0"/>
              <a:ea typeface="Cambria Math" panose="02040503050406030204" pitchFamily="18" charset="0"/>
              <a:cs typeface="Microsoft Sans Serif" panose="020B0604020202020204" pitchFamily="34" charset="0"/>
            </a:endParaRPr>
          </a:p>
          <a:p>
            <a:pPr algn="just"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Microsoft Sans Serif" panose="020B0604020202020204" pitchFamily="34" charset="0"/>
              </a:rPr>
              <a:t>Songs, rituals, symbolic celebrations</a:t>
            </a:r>
            <a:endParaRPr lang="zh-CN" altLang="zh-CN" sz="2400" kern="100" dirty="0">
              <a:effectLst/>
              <a:latin typeface="Cambria Math" panose="02040503050406030204" pitchFamily="18" charset="0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  <p:pic>
        <p:nvPicPr>
          <p:cNvPr id="4100" name="Picture 4" descr="Whale Watching Tours &amp; Cabo Pulmo snorkeling - Cabo Adventures ®">
            <a:extLst>
              <a:ext uri="{FF2B5EF4-FFF2-40B4-BE49-F238E27FC236}">
                <a16:creationId xmlns:a16="http://schemas.microsoft.com/office/drawing/2014/main" id="{4D54B357-651E-6B24-DD44-F2BC05B6D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28" y="900747"/>
            <a:ext cx="3570798" cy="53561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30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D024E47-DAE4-0E57-3F87-63FE5389076D}"/>
              </a:ext>
            </a:extLst>
          </p:cNvPr>
          <p:cNvSpPr txBox="1"/>
          <p:nvPr/>
        </p:nvSpPr>
        <p:spPr>
          <a:xfrm>
            <a:off x="2380820" y="1492995"/>
            <a:ext cx="74303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3200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“We do not have to destroy whales to save a culture, nor crush a culture to save whales. We can choose a wiser path — where traditions adapt, animals survive, and humanity learns to honor life in all its forms.”</a:t>
            </a:r>
            <a:endParaRPr lang="zh-CN" altLang="zh-CN" sz="3200" kern="100" dirty="0">
              <a:effectLst/>
              <a:latin typeface="Cambria Math" panose="020405030504060302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122" name="Picture 2" descr="30000 多张免费的“引号空间”和“宇宙”插图- Pixabay">
            <a:extLst>
              <a:ext uri="{FF2B5EF4-FFF2-40B4-BE49-F238E27FC236}">
                <a16:creationId xmlns:a16="http://schemas.microsoft.com/office/drawing/2014/main" id="{E6ABE248-524C-90C3-C551-E5417FE23E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95" r="35814" b="50017"/>
          <a:stretch>
            <a:fillRect/>
          </a:stretch>
        </p:blipFill>
        <p:spPr bwMode="auto">
          <a:xfrm>
            <a:off x="1768928" y="1323203"/>
            <a:ext cx="488138" cy="33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30000 多张免费的“引号空间”和“宇宙”插图- Pixabay">
            <a:extLst>
              <a:ext uri="{FF2B5EF4-FFF2-40B4-BE49-F238E27FC236}">
                <a16:creationId xmlns:a16="http://schemas.microsoft.com/office/drawing/2014/main" id="{91B9E1B1-C3AC-1344-52D4-083F7B7427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4" t="50017" b="16495"/>
          <a:stretch>
            <a:fillRect/>
          </a:stretch>
        </p:blipFill>
        <p:spPr bwMode="auto">
          <a:xfrm>
            <a:off x="9934933" y="4388018"/>
            <a:ext cx="444308" cy="30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71FC052-8529-4E24-F905-AF0998BC5346}"/>
              </a:ext>
            </a:extLst>
          </p:cNvPr>
          <p:cNvSpPr txBox="1"/>
          <p:nvPr/>
        </p:nvSpPr>
        <p:spPr>
          <a:xfrm>
            <a:off x="3048572" y="4951100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i="0" cap="all" dirty="0">
                <a:solidFill>
                  <a:srgbClr val="0D9488"/>
                </a:solidFill>
                <a:effectLst/>
                <a:latin typeface="Microsoft Sans Serif" panose="020B0604020202020204" pitchFamily="34" charset="0"/>
                <a:cs typeface="Microsoft Sans Serif" panose="020B0604020202020204" pitchFamily="34" charset="0"/>
              </a:rPr>
              <a:t>— A Philosophy of Coexistence</a:t>
            </a:r>
            <a:endParaRPr lang="zh-CN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4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Microsoft Sans Serif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御辩 石</dc:creator>
  <cp:lastModifiedBy>御辩 石</cp:lastModifiedBy>
  <cp:revision>1</cp:revision>
  <dcterms:created xsi:type="dcterms:W3CDTF">2026-06-10T03:09:34Z</dcterms:created>
  <dcterms:modified xsi:type="dcterms:W3CDTF">2026-06-10T03:09:34Z</dcterms:modified>
</cp:coreProperties>
</file>